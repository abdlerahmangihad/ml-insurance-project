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anrope" panose="020B0604020202020204" charset="0"/>
      <p:regular r:id="rId17"/>
    </p:embeddedFont>
    <p:embeddedFont>
      <p:font typeface="Alexandria Medium" panose="020B0604020202020204" charset="-78"/>
      <p:regular r:id="rId18"/>
    </p:embeddedFont>
    <p:embeddedFont>
      <p:font typeface="Manrope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-82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AA7E9-3E3A-423F-BA72-D3505087E03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22E49-7CA0-4BB4-838F-9E0B93B4F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83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jpeg"/><Relationship Id="rId7" Type="http://schemas.openxmlformats.org/officeDocument/2006/relationships/image" Target="../media/image-2-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-2-3.svg"/><Relationship Id="rId10" Type="http://schemas.openxmlformats.org/officeDocument/2006/relationships/hyperlink" Target="https://insuranceregressionproject-mfki9vkjxmqovm5tacwwok.streamlit.app/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github.com/SalehAhmed-Ai/insurance_regression_project.gi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jpeg"/><Relationship Id="rId7" Type="http://schemas.openxmlformats.org/officeDocument/2006/relationships/image" Target="../media/image-7-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-7-3.svg"/><Relationship Id="rId4" Type="http://schemas.openxmlformats.org/officeDocument/2006/relationships/image" Target="../media/image10.png"/><Relationship Id="rId9" Type="http://schemas.openxmlformats.org/officeDocument/2006/relationships/image" Target="../media/image-7-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-10-2.svg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Medical Insurance Cost Prediction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Comparing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Linear Regression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Decision Tree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Random Forest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models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19909"/>
            <a:ext cx="1350764" cy="215354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010174" y="3362399"/>
            <a:ext cx="163785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REGRESSION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46725" y="3319909"/>
            <a:ext cx="934045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31780" y="3362399"/>
            <a:ext cx="12211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SCIENCE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77230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kern="0" spc="-2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Statement &amp; Objective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102370"/>
            <a:ext cx="4722763" cy="10441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6139" y="1236241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1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16139" y="1483593"/>
            <a:ext cx="4397871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Insurance companies must estimate medical costs accurately to price policies fairly — without access to full medical histories, this is a complex regression problem.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247454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6139" y="2381324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1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Our Goal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16139" y="2628677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and compare three regression models to predict the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charges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column from patient data: age, sex, BMI, children, smoker status, and region.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3925119" y="3228752"/>
            <a:ext cx="4722763" cy="1047601"/>
          </a:xfrm>
          <a:prstGeom prst="roundRect">
            <a:avLst>
              <a:gd name="adj" fmla="val 17127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4702" y="3392537"/>
            <a:ext cx="149498" cy="1195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13783" y="3359497"/>
            <a:ext cx="4214515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 Repo </a:t>
            </a:r>
            <a:r>
              <a:rPr lang="en-US" sz="9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:</a:t>
            </a: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900" b="1" u="sng" dirty="0">
                <a:solidFill>
                  <a:srgbClr val="5E87DD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  <a:hlinkClick r:id="rId9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https://github.com/SalehAhmed-Ai/insurance_regression_project.git</a:t>
            </a:r>
            <a:endParaRPr lang="en-US" sz="900" dirty="0"/>
          </a:p>
          <a:p>
            <a:pPr>
              <a:lnSpc>
                <a:spcPct val="123000"/>
              </a:lnSpc>
            </a:pPr>
            <a:r>
              <a:rPr lang="en-US" sz="900" b="1" dirty="0" err="1" smtClean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Deployment:</a:t>
            </a:r>
            <a:r>
              <a:rPr lang="en-US" sz="900" dirty="0" err="1">
                <a:hlinkClick r:id="rId10"/>
              </a:rPr>
              <a:t>Medical</a:t>
            </a:r>
            <a:r>
              <a:rPr lang="en-US" sz="900" dirty="0">
                <a:hlinkClick r:id="rId10"/>
              </a:rPr>
              <a:t> Insurance Cost Prediction · </a:t>
            </a:r>
            <a:r>
              <a:rPr lang="en-US" sz="900">
                <a:hlinkClick r:id="rId10"/>
              </a:rPr>
              <a:t>Streamlit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3925119" y="4389834"/>
            <a:ext cx="5179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448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5098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Medical Cost Personal Datasets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(Kaggle) — a widely used benchmark for healthcare cost prediction.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08113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1,338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45306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Rows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5957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0553" y="1808113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660553" y="245306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Columns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75957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Features +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340745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96119" y="3985692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29220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age, sex, bmi, children, smoker, region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0553" y="3340745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4660553" y="3985692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Target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0553" y="429220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charges (USD)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584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kern="0" spc="-2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Preprocessing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8589"/>
            <a:ext cx="5205933" cy="29499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1580" y="968871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9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971580" y="1138982"/>
            <a:ext cx="2680990" cy="14288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971580" y="1221804"/>
            <a:ext cx="26809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Cleaning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71580" y="1474366"/>
            <a:ext cx="268099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Checked for missing values and duplicates — none found in this dataset.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71580" y="1945332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9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71580" y="2104653"/>
            <a:ext cx="2680990" cy="14288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971580" y="2198266"/>
            <a:ext cx="26809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Encoding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71580" y="2450827"/>
            <a:ext cx="268099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One-hot encoded categorical variables: </a:t>
            </a:r>
            <a:r>
              <a:rPr lang="en-US" sz="8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sex</a:t>
            </a: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8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smoker</a:t>
            </a: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</a:t>
            </a:r>
            <a:r>
              <a:rPr lang="en-US" sz="8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region</a:t>
            </a: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971580" y="2921794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9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71580" y="3070250"/>
            <a:ext cx="2680990" cy="14288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971580" y="3174727"/>
            <a:ext cx="26809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71580" y="3427288"/>
            <a:ext cx="268099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 scaling applied for Linear Regression; tree-based models used unscaled data.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71580" y="389825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kern="0" spc="-9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71580" y="4035921"/>
            <a:ext cx="2680990" cy="14288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971580" y="4151188"/>
            <a:ext cx="268099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71580" y="4403750"/>
            <a:ext cx="2680990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80/20 split with fixed random seed for reproducibility.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 Data Analysis — Key Insights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65911" y="2250207"/>
            <a:ext cx="1974503" cy="489421"/>
          </a:xfrm>
          <a:prstGeom prst="roundRect">
            <a:avLst>
              <a:gd name="adj" fmla="val 22404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4743748" y="2328044"/>
            <a:ext cx="1818829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🚬</a:t>
            </a:r>
            <a:r>
              <a:rPr lang="en-US" sz="700" kern="0" spc="-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Smoking Status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743748" y="2484686"/>
            <a:ext cx="1818829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single strongest driver of charges — smokers pay dramatically more than non-smokers.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6678067" y="2250207"/>
            <a:ext cx="1974577" cy="489421"/>
          </a:xfrm>
          <a:prstGeom prst="roundRect">
            <a:avLst>
              <a:gd name="adj" fmla="val 22404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755904" y="2328044"/>
            <a:ext cx="181890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r>
              <a:rPr lang="en-US" sz="700" kern="0" spc="-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BMI &amp; Age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755904" y="2484686"/>
            <a:ext cx="181890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show positive correlation with charges — higher BMI and older age increase predicted costs.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665911" y="2777282"/>
            <a:ext cx="3986733" cy="400869"/>
          </a:xfrm>
          <a:prstGeom prst="roundRect">
            <a:avLst>
              <a:gd name="adj" fmla="val 2735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743748" y="2855119"/>
            <a:ext cx="3831059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👨‍👩‍👧</a:t>
            </a:r>
            <a:r>
              <a:rPr lang="en-US" sz="700" kern="0" spc="-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Children &amp; Region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743748" y="3011760"/>
            <a:ext cx="38310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Weaker signals — number of children and geographic region have minimal direct impact on charges.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53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Engineering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0182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Thoughtful feature creation improved model performance — and rigorous testing helped us reject ideas that didn't work.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88109"/>
            <a:ext cx="8151763" cy="1279996"/>
          </a:xfrm>
          <a:prstGeom prst="roundRect">
            <a:avLst>
              <a:gd name="adj" fmla="val 1661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0881" y="2492871"/>
            <a:ext cx="4071119" cy="1270471"/>
          </a:xfrm>
          <a:custGeom>
            <a:avLst/>
            <a:gdLst/>
            <a:ahLst/>
            <a:cxnLst/>
            <a:rect l="l" t="t" r="r" b="b"/>
            <a:pathLst>
              <a:path w="4071119" h="1270471">
                <a:moveTo>
                  <a:pt x="177209" y="0"/>
                </a:moveTo>
                <a:lnTo>
                  <a:pt x="4071119" y="0"/>
                </a:lnTo>
                <a:lnTo>
                  <a:pt x="4071119" y="1270471"/>
                </a:lnTo>
                <a:lnTo>
                  <a:pt x="177209" y="1270471"/>
                </a:lnTo>
                <a:arcTo wR="177209" hR="177209" stAng="5400000" swAng="5400000"/>
                <a:lnTo>
                  <a:pt x="0" y="177209"/>
                </a:lnTo>
                <a:arcTo wR="177209" hR="177209" stAng="10800000" swAng="5400000"/>
                <a:close/>
              </a:path>
            </a:pathLst>
          </a:custGeom>
          <a:solidFill>
            <a:srgbClr val="E6F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2640" y="2634630"/>
            <a:ext cx="3787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Success: bmi_smoker Interaction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941141"/>
            <a:ext cx="37876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</a:t>
            </a: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BMI × smoker</a:t>
            </a: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interaction term. Linear Regression R² rose from </a:t>
            </a: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0.807 → 0.886</a:t>
            </a: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Captures the compounding effect of high BMI in smokers.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492871"/>
            <a:ext cx="4071119" cy="1270471"/>
          </a:xfrm>
          <a:custGeom>
            <a:avLst/>
            <a:gdLst/>
            <a:ahLst/>
            <a:cxnLst/>
            <a:rect l="l" t="t" r="r" b="b"/>
            <a:pathLst>
              <a:path w="4071119" h="1270471">
                <a:moveTo>
                  <a:pt x="0" y="0"/>
                </a:moveTo>
                <a:lnTo>
                  <a:pt x="3893910" y="0"/>
                </a:lnTo>
                <a:arcTo wR="177209" hR="177209" stAng="16200000" swAng="5400000"/>
                <a:lnTo>
                  <a:pt x="4071119" y="1093262"/>
                </a:lnTo>
                <a:arcTo wR="177209" hR="177209" stAng="0" swAng="5400000"/>
                <a:lnTo>
                  <a:pt x="0" y="1270471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0" y="2492871"/>
            <a:ext cx="19050" cy="1270471"/>
          </a:xfrm>
          <a:prstGeom prst="roundRect">
            <a:avLst>
              <a:gd name="adj" fmla="val 50000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13759" y="2634630"/>
            <a:ext cx="3787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Rejected: Log-Transform Target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13759" y="2941141"/>
            <a:ext cx="37876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Log-transforming </a:t>
            </a: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charges</a:t>
            </a: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was tested to normalize the skewed target. Result: R² dropped to </a:t>
            </a: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0.588</a:t>
            </a: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Rejected based on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1287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kern="0" spc="-2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Models Trained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974452"/>
            <a:ext cx="315590" cy="3155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430536"/>
            <a:ext cx="4722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96119" y="1695227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Baseline model with interpretable coefficients. Scaled features used. Hyperparameters tuned via GridSearchCV.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301999"/>
            <a:ext cx="315590" cy="3155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758083"/>
            <a:ext cx="4722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96119" y="3022774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Non-linear model capturing feature interactions naturally. Pruned via GridSearchCV to prevent overfitting.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629546"/>
            <a:ext cx="315590" cy="3155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4085630"/>
            <a:ext cx="4722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96119" y="4350321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of decision trees with bagging. Robust to outliers and non-linear patterns. Tuned with GridSearchCV.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494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Model Comparison Results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01453"/>
            <a:ext cx="8151763" cy="1654373"/>
          </a:xfrm>
          <a:prstGeom prst="roundRect">
            <a:avLst>
              <a:gd name="adj" fmla="val 1285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96119" y="191504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96119" y="233102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96119" y="274223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943671" y="1501453"/>
            <a:ext cx="8860" cy="16543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409256" y="1501453"/>
            <a:ext cx="8860" cy="16543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874841" y="1501453"/>
            <a:ext cx="8860" cy="16543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40426" y="1501453"/>
            <a:ext cx="8860" cy="16543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2789" y="1596033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7812" y="159603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3396" y="159603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MAE ($)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18981" y="159603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RMSE ($)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84566" y="1596033"/>
            <a:ext cx="14739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Rank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89" y="2007245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87812" y="200724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0.901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3396" y="200724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2,414.5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8981" y="200724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4,261.8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84566" y="2007245"/>
            <a:ext cx="147399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🏆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1st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89" y="2423220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87812" y="2423220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0.892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396" y="2423220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2,693.3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18981" y="2423220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4,461.4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4566" y="2423220"/>
            <a:ext cx="14739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789" y="2834432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87812" y="2834432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0.886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53396" y="2834432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2,829.0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18981" y="2834432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4,572.8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84566" y="2834432"/>
            <a:ext cx="14739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6119" y="3315295"/>
            <a:ext cx="8151763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2640" y="3461817"/>
            <a:ext cx="785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Random Forest Wins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2640" y="3768328"/>
            <a:ext cx="7858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methods naturally capture non-linear interactions (e.g., smoker × BMI) without explicit feature engineering — outperforming linear models on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785"/>
            <a:ext cx="8151763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Deployment &amp; Team Workflow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71525"/>
            <a:ext cx="5228630" cy="2962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9387" y="1922190"/>
            <a:ext cx="2723183" cy="13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800" kern="0" spc="-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Streamlit Web App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29387" y="2102346"/>
            <a:ext cx="2723183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enter patient details (age, BMI, smoker status, etc.), select a model, and receive an </a:t>
            </a:r>
            <a:r>
              <a:rPr lang="en-US" sz="6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instant predicted insurance cost</a:t>
            </a: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5929387" y="2382962"/>
            <a:ext cx="2723183" cy="9525"/>
          </a:xfrm>
          <a:prstGeom prst="roundRect">
            <a:avLst>
              <a:gd name="adj" fmla="val 50000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29387" y="2466231"/>
            <a:ext cx="2723183" cy="132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r>
              <a:rPr lang="en-US" sz="800" kern="0" spc="-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Team of 5 — Full Pipeline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96119" y="3893716"/>
            <a:ext cx="40928" cy="40928"/>
          </a:xfrm>
          <a:prstGeom prst="ellipse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84374" y="3848621"/>
            <a:ext cx="806350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Preprocessing</a:t>
            </a: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data cleaning &amp; encoding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496119" y="4093369"/>
            <a:ext cx="40928" cy="40928"/>
          </a:xfrm>
          <a:prstGeom prst="ellipse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84374" y="4046786"/>
            <a:ext cx="806350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EDA</a:t>
            </a: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exploratory analysis &amp; insights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496119" y="4293096"/>
            <a:ext cx="40928" cy="40928"/>
          </a:xfrm>
          <a:prstGeom prst="ellipse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84374" y="4244950"/>
            <a:ext cx="806350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Modeling</a:t>
            </a: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training &amp; tuning models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496119" y="4492749"/>
            <a:ext cx="40928" cy="40928"/>
          </a:xfrm>
          <a:prstGeom prst="ellipse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84374" y="4443115"/>
            <a:ext cx="806350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Evaluation</a:t>
            </a: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metrics &amp; comparison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496119" y="4692476"/>
            <a:ext cx="40928" cy="40928"/>
          </a:xfrm>
          <a:prstGeom prst="ellipse">
            <a:avLst/>
          </a:prstGeom>
          <a:solidFill>
            <a:srgbClr val="D4CC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84374" y="4641279"/>
            <a:ext cx="806350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Deployment</a:t>
            </a: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Streamlit app &amp; documentation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Conclusion &amp; Future Work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07295"/>
            <a:ext cx="1974503" cy="613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818" y="2489895"/>
            <a:ext cx="1771204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700" kern="0" spc="-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Recommended Model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16818" y="2646536"/>
            <a:ext cx="1771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Random Forest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highest R² (0.901), lowest MAE and RMSE. Ready for production deployment.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8275" y="2407295"/>
            <a:ext cx="1974577" cy="6138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28974" y="2489895"/>
            <a:ext cx="1771278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kern="0" spc="-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700" kern="0" spc="-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Next Steps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2628974" y="2646536"/>
            <a:ext cx="1771278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Experiment with </a:t>
            </a: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Gradient Boosting / XGBoost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Enrich features with </a:t>
            </a: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medical history data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Deploy on </a:t>
            </a: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cloud infrastructure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(AWS / GCP)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E87D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589</Words>
  <Application>Microsoft Office PowerPoint</Application>
  <PresentationFormat>عرض على الشاشة (9:16)‏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8" baseType="lpstr">
      <vt:lpstr>Arial</vt:lpstr>
      <vt:lpstr>Calibri</vt:lpstr>
      <vt:lpstr>Manrope</vt:lpstr>
      <vt:lpstr>Alexandria Medium</vt:lpstr>
      <vt:lpstr>Alexandria Light</vt:lpstr>
      <vt:lpstr>Twemoji Mozilla</vt:lpstr>
      <vt:lpstr>Manrope 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lastModifiedBy>FuTuTRe</cp:lastModifiedBy>
  <cp:revision>2</cp:revision>
  <dcterms:created xsi:type="dcterms:W3CDTF">2026-08-06T16:44:36Z</dcterms:created>
  <dcterms:modified xsi:type="dcterms:W3CDTF">2026-08-06T18:05:12Z</dcterms:modified>
</cp:coreProperties>
</file>